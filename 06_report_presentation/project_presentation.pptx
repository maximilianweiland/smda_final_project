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8"/>
  </p:notesMasterIdLst>
  <p:sldIdLst>
    <p:sldId id="256" r:id="rId2"/>
    <p:sldId id="258" r:id="rId3"/>
    <p:sldId id="259" r:id="rId4"/>
    <p:sldId id="263" r:id="rId5"/>
    <p:sldId id="262" r:id="rId6"/>
    <p:sldId id="264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255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884">
          <p15:clr>
            <a:srgbClr val="A4A3A4"/>
          </p15:clr>
        </p15:guide>
        <p15:guide id="8" orient="horz" pos="3385">
          <p15:clr>
            <a:srgbClr val="A4A3A4"/>
          </p15:clr>
        </p15:guide>
        <p15:guide id="9" orient="horz" pos="2704">
          <p15:clr>
            <a:srgbClr val="A4A3A4"/>
          </p15:clr>
        </p15:guide>
        <p15:guide id="10" orient="horz" pos="1207">
          <p15:clr>
            <a:srgbClr val="A4A3A4"/>
          </p15:clr>
        </p15:guide>
        <p15:guide id="11" orient="horz" pos="1525">
          <p15:clr>
            <a:srgbClr val="A4A3A4"/>
          </p15:clr>
        </p15:guide>
        <p15:guide id="12" orient="horz" pos="1480">
          <p15:clr>
            <a:srgbClr val="A4A3A4"/>
          </p15:clr>
        </p15:guide>
        <p15:guide id="13" orient="horz" pos="3067">
          <p15:clr>
            <a:srgbClr val="A4A3A4"/>
          </p15:clr>
        </p15:guide>
        <p15:guide id="14" orient="horz" pos="1979">
          <p15:clr>
            <a:srgbClr val="A4A3A4"/>
          </p15:clr>
        </p15:guide>
        <p15:guide id="15" pos="2925">
          <p15:clr>
            <a:srgbClr val="A4A3A4"/>
          </p15:clr>
        </p15:guide>
        <p15:guide id="16" pos="2835">
          <p15:clr>
            <a:srgbClr val="A4A3A4"/>
          </p15:clr>
        </p15:guide>
        <p15:guide id="17" pos="2245">
          <p15:clr>
            <a:srgbClr val="A4A3A4"/>
          </p15:clr>
        </p15:guide>
        <p15:guide id="18" pos="2154">
          <p15:clr>
            <a:srgbClr val="A4A3A4"/>
          </p15:clr>
        </p15:guide>
        <p15:guide id="19" pos="1565">
          <p15:clr>
            <a:srgbClr val="A4A3A4"/>
          </p15:clr>
        </p15:guide>
        <p15:guide id="20" pos="1474">
          <p15:clr>
            <a:srgbClr val="A4A3A4"/>
          </p15:clr>
        </p15:guide>
        <p15:guide id="21" pos="884">
          <p15:clr>
            <a:srgbClr val="A4A3A4"/>
          </p15:clr>
        </p15:guide>
        <p15:guide id="22" pos="793">
          <p15:clr>
            <a:srgbClr val="A4A3A4"/>
          </p15:clr>
        </p15:guide>
        <p15:guide id="23" pos="204">
          <p15:clr>
            <a:srgbClr val="A4A3A4"/>
          </p15:clr>
        </p15:guide>
        <p15:guide id="24" pos="3515">
          <p15:clr>
            <a:srgbClr val="A4A3A4"/>
          </p15:clr>
        </p15:guide>
        <p15:guide id="25" pos="3606">
          <p15:clr>
            <a:srgbClr val="A4A3A4"/>
          </p15:clr>
        </p15:guide>
        <p15:guide id="26" pos="4195">
          <p15:clr>
            <a:srgbClr val="A4A3A4"/>
          </p15:clr>
        </p15:guide>
        <p15:guide id="27" pos="4286">
          <p15:clr>
            <a:srgbClr val="A4A3A4"/>
          </p15:clr>
        </p15:guide>
        <p15:guide id="28" pos="4876">
          <p15:clr>
            <a:srgbClr val="A4A3A4"/>
          </p15:clr>
        </p15:guide>
        <p15:guide id="29" pos="4967">
          <p15:clr>
            <a:srgbClr val="A4A3A4"/>
          </p15:clr>
        </p15:guide>
        <p15:guide id="30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5"/>
  </p:normalViewPr>
  <p:slideViewPr>
    <p:cSldViewPr snapToGrid="0">
      <p:cViewPr varScale="1">
        <p:scale>
          <a:sx n="118" d="100"/>
          <a:sy n="118" d="100"/>
        </p:scale>
        <p:origin x="1608" y="200"/>
      </p:cViewPr>
      <p:guideLst>
        <p:guide orient="horz" pos="1253"/>
        <p:guide orient="horz" pos="3838"/>
        <p:guide orient="horz" pos="4201"/>
        <p:guide orient="horz" pos="3294"/>
        <p:guide orient="horz" pos="255"/>
        <p:guide orient="horz" pos="1026"/>
        <p:guide orient="horz" pos="3884"/>
        <p:guide orient="horz" pos="3385"/>
        <p:guide orient="horz" pos="2704"/>
        <p:guide orient="horz" pos="1207"/>
        <p:guide orient="horz" pos="1525"/>
        <p:guide orient="horz" pos="1480"/>
        <p:guide orient="horz" pos="3067"/>
        <p:guide orient="horz" pos="1979"/>
        <p:guide pos="2925"/>
        <p:guide pos="2835"/>
        <p:guide pos="2245"/>
        <p:guide pos="2154"/>
        <p:guide pos="1565"/>
        <p:guide pos="1474"/>
        <p:guide pos="884"/>
        <p:guide pos="793"/>
        <p:guide pos="204"/>
        <p:guide pos="3515"/>
        <p:guide pos="3606"/>
        <p:guide pos="4195"/>
        <p:guide pos="4286"/>
        <p:guide pos="4876"/>
        <p:guide pos="4967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85f75223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85f75223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e85f752237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4643438" y="1989138"/>
            <a:ext cx="4500184" cy="3240087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23850" y="2492896"/>
            <a:ext cx="5256213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Gross">
  <p:cSld name="Titelfolie Gros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323850" y="2349500"/>
            <a:ext cx="6335713" cy="25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Bilder">
  <p:cSld name="Titel und zwei Bil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Gross">
  <p:cSld name="Zitat Gros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 u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Inhalte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Inhalte">
  <p:cSld name="Titel Gross und zwei Inhal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Bilder">
  <p:cSld name="Titel Gross und zwei Bil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Gross">
  <p:cSld name="Nur Titel Gros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323850" y="6408378"/>
            <a:ext cx="8496622" cy="0"/>
          </a:xfrm>
          <a:prstGeom prst="straightConnector1">
            <a:avLst/>
          </a:prstGeom>
          <a:noFill/>
          <a:ln w="12700" cap="flat" cmpd="sng">
            <a:solidFill>
              <a:srgbClr val="0098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5724525" y="6453336"/>
            <a:ext cx="3095947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Universität Konstanz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16">
            <a:extLst>
              <a:ext uri="{FF2B5EF4-FFF2-40B4-BE49-F238E27FC236}">
                <a16:creationId xmlns:a16="http://schemas.microsoft.com/office/drawing/2014/main" id="{9A3E191D-A782-E963-3507-B6624836F947}"/>
              </a:ext>
            </a:extLst>
          </p:cNvPr>
          <p:cNvSpPr/>
          <p:nvPr/>
        </p:nvSpPr>
        <p:spPr>
          <a:xfrm>
            <a:off x="289622" y="1995888"/>
            <a:ext cx="2284613" cy="5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Replication:</a:t>
            </a:r>
          </a:p>
        </p:txBody>
      </p:sp>
      <p:sp>
        <p:nvSpPr>
          <p:cNvPr id="107" name="Google Shape;107;p16"/>
          <p:cNvSpPr/>
          <p:nvPr/>
        </p:nvSpPr>
        <p:spPr>
          <a:xfrm>
            <a:off x="289624" y="3680625"/>
            <a:ext cx="3715845" cy="5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Election Campaigns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289625" y="3118825"/>
            <a:ext cx="3119498" cy="5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During and After</a:t>
            </a:r>
          </a:p>
        </p:txBody>
      </p:sp>
      <p:sp>
        <p:nvSpPr>
          <p:cNvPr id="109" name="Google Shape;109;p16"/>
          <p:cNvSpPr/>
          <p:nvPr/>
        </p:nvSpPr>
        <p:spPr>
          <a:xfrm>
            <a:off x="289622" y="2557750"/>
            <a:ext cx="3944448" cy="5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Party Communication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406650" y="5546100"/>
            <a:ext cx="8330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noProof="0" dirty="0"/>
              <a:t>Max Weiland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b="0" u="none" noProof="0" dirty="0"/>
              <a:t>Konstanz, 15.07.25</a:t>
            </a: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noProof="0" dirty="0"/>
              <a:t>1. Research Question</a:t>
            </a: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3F065A4-B0FB-6E0F-0FE0-DBDDB99E4AEA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b="1" noProof="0" dirty="0"/>
              <a:t>Previous Research: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Politicians strategically apply emotive language during election campaigns</a:t>
            </a:r>
            <a:br>
              <a:rPr lang="en-US" noProof="0" dirty="0"/>
            </a:br>
            <a:r>
              <a:rPr lang="en-US" noProof="0" dirty="0"/>
              <a:t>(Kosmidis et al. 2019)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Negativity during campaigns linked to increased affective polarization (Marchal 2022)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Poor economic performance makes e</a:t>
            </a:r>
            <a:r>
              <a:rPr lang="en-US" dirty="0" err="1"/>
              <a:t>veryone</a:t>
            </a:r>
            <a:r>
              <a:rPr lang="en-US" dirty="0"/>
              <a:t> speak more negatively (Crabtree 2020)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28600"/>
            <a:r>
              <a:rPr lang="en-US" b="1" noProof="0" dirty="0"/>
              <a:t>Analysis</a:t>
            </a:r>
            <a:r>
              <a:rPr lang="en-US" b="1" dirty="0"/>
              <a:t>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How does communication change between non-election campaign and campaign times?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How </a:t>
            </a:r>
            <a:r>
              <a:rPr lang="en-US" noProof="0" dirty="0"/>
              <a:t>did German parties’ sentiment change during the 2025 Bundestag campaign?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Analyze individual politicians’ communication on social media, sentiment analysis on Bluesky posts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0EB813-0567-3D34-0974-F82EF1FA0093}"/>
              </a:ext>
            </a:extLst>
          </p:cNvPr>
          <p:cNvSpPr txBox="1"/>
          <p:nvPr/>
        </p:nvSpPr>
        <p:spPr>
          <a:xfrm>
            <a:off x="329648" y="1157586"/>
            <a:ext cx="655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2"/>
                </a:solidFill>
              </a:rPr>
              <a:t>How does party communication change during election campaigns?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23850" y="404669"/>
            <a:ext cx="63357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noProof="0" dirty="0"/>
              <a:t>2. The Original Paper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782003F-B563-0F25-3691-767ED74C59C7}"/>
              </a:ext>
            </a:extLst>
          </p:cNvPr>
          <p:cNvSpPr txBox="1">
            <a:spLocks/>
          </p:cNvSpPr>
          <p:nvPr/>
        </p:nvSpPr>
        <p:spPr>
          <a:xfrm>
            <a:off x="323849" y="1202636"/>
            <a:ext cx="8164168" cy="48901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sz="1600" b="1" dirty="0">
                <a:solidFill>
                  <a:schemeClr val="accent2"/>
                </a:solidFill>
              </a:rPr>
              <a:t>Modulation of Democracy: Partisan Communication During and After Election Campaigns </a:t>
            </a:r>
            <a:r>
              <a:rPr lang="en-US" sz="1600" dirty="0"/>
              <a:t>(Silva et al. 2024)</a:t>
            </a:r>
          </a:p>
          <a:p>
            <a:pPr marL="228600"/>
            <a:endParaRPr lang="en-US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Analyze all tweets by e</a:t>
            </a:r>
            <a:r>
              <a:rPr lang="en-US" dirty="0"/>
              <a:t>very member of a national parliament in the EU 27 between</a:t>
            </a:r>
            <a:br>
              <a:rPr lang="en-US" dirty="0"/>
            </a:br>
            <a:r>
              <a:rPr lang="en-US" dirty="0"/>
              <a:t>February 2018 and February 2020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Apply a </a:t>
            </a:r>
            <a:r>
              <a:rPr lang="en-US" dirty="0"/>
              <a:t>dictionary-based sentiment analysis</a:t>
            </a:r>
          </a:p>
          <a:p>
            <a:pPr marL="228600"/>
            <a:endParaRPr lang="en-US" dirty="0"/>
          </a:p>
          <a:p>
            <a:pPr marL="228600"/>
            <a:r>
              <a:rPr lang="en-US" b="1" dirty="0"/>
              <a:t>Findings: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Generally, government parties communicate more positively than the opposition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This gap narrows during </a:t>
            </a:r>
            <a:r>
              <a:rPr lang="en-US" dirty="0"/>
              <a:t>election campaigns. The effect holds even for Euroskeptic</a:t>
            </a:r>
            <a:br>
              <a:rPr lang="en-US" dirty="0"/>
            </a:br>
            <a:r>
              <a:rPr lang="en-US" dirty="0"/>
              <a:t>and extreme parties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noProof="0" dirty="0"/>
              <a:t>Parties trailing in the polls communicate more negatively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</p:txBody>
      </p:sp>
      <p:pic>
        <p:nvPicPr>
          <p:cNvPr id="4" name="Grafik 3" descr="Ein Bild, das Text, Reihe, Zahl, Quittung enthält.&#10;&#10;KI-generierte Inhalte können fehlerhaft sein.">
            <a:extLst>
              <a:ext uri="{FF2B5EF4-FFF2-40B4-BE49-F238E27FC236}">
                <a16:creationId xmlns:a16="http://schemas.microsoft.com/office/drawing/2014/main" id="{D7D1999D-B783-12CB-D2AE-BE9DD51EB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19" y="3946659"/>
            <a:ext cx="4383113" cy="2326421"/>
          </a:xfrm>
          <a:prstGeom prst="rect">
            <a:avLst/>
          </a:prstGeom>
        </p:spPr>
      </p:pic>
      <p:pic>
        <p:nvPicPr>
          <p:cNvPr id="6" name="Grafik 5" descr="Ein Bild, das Diagramm enthält.&#10;&#10;KI-generierte Inhalte können fehlerhaft sein.">
            <a:extLst>
              <a:ext uri="{FF2B5EF4-FFF2-40B4-BE49-F238E27FC236}">
                <a16:creationId xmlns:a16="http://schemas.microsoft.com/office/drawing/2014/main" id="{60BD5C8B-9F5B-DF89-5C71-0CA619539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79" y="3976685"/>
            <a:ext cx="4071540" cy="21704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2C93B-5C9E-0D90-D776-EAB305A5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404663"/>
            <a:ext cx="6335713" cy="648885"/>
          </a:xfrm>
        </p:spPr>
        <p:txBody>
          <a:bodyPr/>
          <a:lstStyle/>
          <a:p>
            <a:r>
              <a:rPr lang="en-US" u="none" noProof="0" dirty="0"/>
              <a:t>3. Replication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BD4D24-6790-873C-C4AE-25ECE95A37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BEAB5B70-A4BF-A1CA-2408-33E618A59104}"/>
              </a:ext>
            </a:extLst>
          </p:cNvPr>
          <p:cNvSpPr txBox="1">
            <a:spLocks/>
          </p:cNvSpPr>
          <p:nvPr/>
        </p:nvSpPr>
        <p:spPr>
          <a:xfrm>
            <a:off x="323850" y="1378300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noProof="0" dirty="0">
                <a:solidFill>
                  <a:schemeClr val="accent2"/>
                </a:solidFill>
              </a:rPr>
              <a:t>Test if the authors’ findings can be applied to the 2025 German Bundestag campaign</a:t>
            </a:r>
          </a:p>
          <a:p>
            <a:pPr marL="228600"/>
            <a:endParaRPr lang="en-US" dirty="0"/>
          </a:p>
          <a:p>
            <a:pPr marL="228600"/>
            <a:r>
              <a:rPr lang="en-US" b="1" dirty="0"/>
              <a:t>Hypotheses:</a:t>
            </a:r>
            <a:br>
              <a:rPr lang="en-US" dirty="0"/>
            </a:br>
            <a:r>
              <a:rPr lang="en-US" i="1" dirty="0"/>
              <a:t>H1: Government parties communicate more positively than opposition parties.</a:t>
            </a:r>
            <a:br>
              <a:rPr lang="en-US" i="1" dirty="0"/>
            </a:br>
            <a:r>
              <a:rPr lang="en-US" i="1" dirty="0"/>
              <a:t>H2: Opposition parties are more positive during campaign than non-campaign times.</a:t>
            </a:r>
            <a:br>
              <a:rPr lang="en-US" i="1" dirty="0"/>
            </a:br>
            <a:r>
              <a:rPr lang="en-US" i="1" dirty="0"/>
              <a:t>H3: Governing parties are more negative during campaign than non-campaign times.</a:t>
            </a:r>
          </a:p>
          <a:p>
            <a:pPr marL="228600"/>
            <a:endParaRPr lang="en-US" i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Collected 17,173 posts of German MPs having a Bluesky account from June 2024 until June 2025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Remove period of caretaker government directly after election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Apply a BERT-based sentiment classifier to classify MPs sentiment </a:t>
            </a:r>
            <a:br>
              <a:rPr lang="en-US" dirty="0"/>
            </a:br>
            <a:r>
              <a:rPr lang="en-US" dirty="0"/>
              <a:t>(in one-week intervals)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Run a multilevel model grouped at politician and party level</a:t>
            </a:r>
            <a:br>
              <a:rPr lang="en-US" i="1" dirty="0"/>
            </a:br>
            <a:endParaRPr lang="en-US" i="1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51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323849" y="404663"/>
            <a:ext cx="7865994" cy="122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noProof="0" dirty="0"/>
              <a:t>4. Limitations and Open Questions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0861406-7A10-8AC5-FE23-9072E616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69" y="3429000"/>
            <a:ext cx="5705061" cy="2425061"/>
          </a:xfrm>
          <a:prstGeom prst="rect">
            <a:avLst/>
          </a:prstGeom>
        </p:spPr>
      </p:pic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1FD0D4E-CF51-097C-4E7C-C1915FBB5630}"/>
              </a:ext>
            </a:extLst>
          </p:cNvPr>
          <p:cNvSpPr txBox="1">
            <a:spLocks/>
          </p:cNvSpPr>
          <p:nvPr/>
        </p:nvSpPr>
        <p:spPr>
          <a:xfrm>
            <a:off x="323849" y="1378300"/>
            <a:ext cx="7647333" cy="22693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Proportion of Bluesky accounts within a party is very unequally distributed across parties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What single politician posts might not be representative of party’s main line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Bundestag campaign did not start as planned, but because of dissolution of the parliament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Focus better on single parties for which I have a reasonable amount of data?</a:t>
            </a:r>
          </a:p>
          <a:p>
            <a:pPr marL="228600"/>
            <a:br>
              <a:rPr lang="en-US" i="1" dirty="0"/>
            </a:br>
            <a:endParaRPr lang="en-US" i="1" noProof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D57A1-8FDD-AC02-C426-E1667096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noProof="0" dirty="0"/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D13FB3-6DAA-C741-FFA4-FE514730A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F155920-C0A8-155B-E94E-5E8BB78E5F57}"/>
              </a:ext>
            </a:extLst>
          </p:cNvPr>
          <p:cNvSpPr txBox="1">
            <a:spLocks/>
          </p:cNvSpPr>
          <p:nvPr/>
        </p:nvSpPr>
        <p:spPr>
          <a:xfrm>
            <a:off x="323850" y="1093305"/>
            <a:ext cx="6335713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E982AF7-EF9D-6E29-7B4F-8D0EE4DB3EF9}"/>
              </a:ext>
            </a:extLst>
          </p:cNvPr>
          <p:cNvSpPr txBox="1">
            <a:spLocks/>
          </p:cNvSpPr>
          <p:nvPr/>
        </p:nvSpPr>
        <p:spPr>
          <a:xfrm>
            <a:off x="323850" y="1093304"/>
            <a:ext cx="8496300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r>
              <a:rPr lang="en-US" noProof="0" dirty="0"/>
              <a:t>Crabtree, C., Golder, M., Gschwend, T., &amp; </a:t>
            </a:r>
            <a:r>
              <a:rPr lang="en-US" noProof="0" dirty="0" err="1"/>
              <a:t>Indriđason</a:t>
            </a:r>
            <a:r>
              <a:rPr lang="en-US" noProof="0" dirty="0"/>
              <a:t>, I. H. (2020). It is not only what you say, it is also how you say it: The strategic use of campaign sentiment. </a:t>
            </a:r>
            <a:r>
              <a:rPr lang="en-US" i="1" noProof="0" dirty="0"/>
              <a:t>The Journal of Politics</a:t>
            </a:r>
            <a:r>
              <a:rPr lang="en-US" noProof="0" dirty="0"/>
              <a:t>, </a:t>
            </a:r>
            <a:r>
              <a:rPr lang="en-US" i="1" noProof="0" dirty="0"/>
              <a:t>82</a:t>
            </a:r>
            <a:r>
              <a:rPr lang="en-US" noProof="0" dirty="0"/>
              <a:t>(3), 1044-1060.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Marchal, N. (2022). “Be nice or leave me alone”: An intergroup perspective on affective polarization in online political discussions. </a:t>
            </a:r>
            <a:r>
              <a:rPr lang="en-US" i="1" noProof="0" dirty="0"/>
              <a:t>Communication Research</a:t>
            </a:r>
            <a:r>
              <a:rPr lang="en-US" noProof="0" dirty="0"/>
              <a:t>, </a:t>
            </a:r>
            <a:r>
              <a:rPr lang="en-US" i="1" noProof="0" dirty="0"/>
              <a:t>49</a:t>
            </a:r>
            <a:r>
              <a:rPr lang="en-US" noProof="0" dirty="0"/>
              <a:t>(3), 376-398.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Kosmidis, S., Hobolt, S. B., Molloy, E., &amp; Whitefield, S. (2019). Party competition and emotive rhetoric. </a:t>
            </a:r>
            <a:r>
              <a:rPr lang="en-US" i="1" noProof="0" dirty="0"/>
              <a:t>Comparative Political Studies</a:t>
            </a:r>
            <a:r>
              <a:rPr lang="en-US" noProof="0" dirty="0"/>
              <a:t>, </a:t>
            </a:r>
            <a:r>
              <a:rPr lang="en-US" i="1" noProof="0" dirty="0"/>
              <a:t>52</a:t>
            </a:r>
            <a:r>
              <a:rPr lang="en-US" noProof="0" dirty="0"/>
              <a:t>(6), 811-837.</a:t>
            </a:r>
          </a:p>
          <a:p>
            <a:pPr marL="228600"/>
            <a:endParaRPr lang="en-US" noProof="0" dirty="0"/>
          </a:p>
          <a:p>
            <a:pPr marL="228600"/>
            <a:r>
              <a:rPr lang="en-US" noProof="0" dirty="0"/>
              <a:t>Silva, B. C., Schürmann, L., &amp; Proksch, S. O. (2024). Modulation of democracy: Partisan communication during and after election campaigns. </a:t>
            </a:r>
            <a:r>
              <a:rPr lang="en-US" i="1" noProof="0" dirty="0"/>
              <a:t>British Journal of Political Science</a:t>
            </a:r>
            <a:r>
              <a:rPr lang="en-US" noProof="0" dirty="0"/>
              <a:t>, </a:t>
            </a:r>
            <a:r>
              <a:rPr lang="en-US" i="1" noProof="0" dirty="0"/>
              <a:t>54</a:t>
            </a:r>
            <a:r>
              <a:rPr lang="en-US" noProof="0" dirty="0"/>
              <a:t>(2), 339-354.</a:t>
            </a:r>
            <a:br>
              <a:rPr lang="de-DE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733566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tiät Konstanz Design">
  <a:themeElements>
    <a:clrScheme name="UNIK Farben PowerPoint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9AD1"/>
      </a:accent1>
      <a:accent2>
        <a:srgbClr val="59B6DC"/>
      </a:accent2>
      <a:accent3>
        <a:srgbClr val="A0D3E6"/>
      </a:accent3>
      <a:accent4>
        <a:srgbClr val="C8E5EF"/>
      </a:accent4>
      <a:accent5>
        <a:srgbClr val="B2B2B2"/>
      </a:accent5>
      <a:accent6>
        <a:srgbClr val="808080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Macintosh PowerPoint</Application>
  <PresentationFormat>Bildschirmpräsentation (4:3)</PresentationFormat>
  <Paragraphs>54</Paragraphs>
  <Slides>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Calibri</vt:lpstr>
      <vt:lpstr>Arial</vt:lpstr>
      <vt:lpstr>Universtiät Konstanz Design</vt:lpstr>
      <vt:lpstr>PowerPoint-Präsentation</vt:lpstr>
      <vt:lpstr>1. Research Question</vt:lpstr>
      <vt:lpstr>2. The Original Paper  </vt:lpstr>
      <vt:lpstr>3. Replication</vt:lpstr>
      <vt:lpstr>4. Limitations and Open Questions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Maximilian Weiland</cp:lastModifiedBy>
  <cp:revision>2</cp:revision>
  <dcterms:modified xsi:type="dcterms:W3CDTF">2025-07-16T05:50:29Z</dcterms:modified>
</cp:coreProperties>
</file>