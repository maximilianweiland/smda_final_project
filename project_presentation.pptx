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2" r:id="rId1"/>
  </p:sldMasterIdLst>
  <p:notesMasterIdLst>
    <p:notesMasterId r:id="rId8"/>
  </p:notesMasterIdLst>
  <p:sldIdLst>
    <p:sldId id="256" r:id="rId2"/>
    <p:sldId id="258" r:id="rId3"/>
    <p:sldId id="259" r:id="rId4"/>
    <p:sldId id="263" r:id="rId5"/>
    <p:sldId id="262" r:id="rId6"/>
    <p:sldId id="264" r:id="rId7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253">
          <p15:clr>
            <a:srgbClr val="A4A3A4"/>
          </p15:clr>
        </p15:guide>
        <p15:guide id="2" orient="horz" pos="3838">
          <p15:clr>
            <a:srgbClr val="A4A3A4"/>
          </p15:clr>
        </p15:guide>
        <p15:guide id="3" orient="horz" pos="4201">
          <p15:clr>
            <a:srgbClr val="A4A3A4"/>
          </p15:clr>
        </p15:guide>
        <p15:guide id="4" orient="horz" pos="3294">
          <p15:clr>
            <a:srgbClr val="A4A3A4"/>
          </p15:clr>
        </p15:guide>
        <p15:guide id="5" orient="horz" pos="255">
          <p15:clr>
            <a:srgbClr val="A4A3A4"/>
          </p15:clr>
        </p15:guide>
        <p15:guide id="6" orient="horz" pos="1026">
          <p15:clr>
            <a:srgbClr val="A4A3A4"/>
          </p15:clr>
        </p15:guide>
        <p15:guide id="7" orient="horz" pos="3884">
          <p15:clr>
            <a:srgbClr val="A4A3A4"/>
          </p15:clr>
        </p15:guide>
        <p15:guide id="8" orient="horz" pos="3385">
          <p15:clr>
            <a:srgbClr val="A4A3A4"/>
          </p15:clr>
        </p15:guide>
        <p15:guide id="9" orient="horz" pos="2704">
          <p15:clr>
            <a:srgbClr val="A4A3A4"/>
          </p15:clr>
        </p15:guide>
        <p15:guide id="10" orient="horz" pos="1207">
          <p15:clr>
            <a:srgbClr val="A4A3A4"/>
          </p15:clr>
        </p15:guide>
        <p15:guide id="11" orient="horz" pos="1525">
          <p15:clr>
            <a:srgbClr val="A4A3A4"/>
          </p15:clr>
        </p15:guide>
        <p15:guide id="12" orient="horz" pos="1480">
          <p15:clr>
            <a:srgbClr val="A4A3A4"/>
          </p15:clr>
        </p15:guide>
        <p15:guide id="13" orient="horz" pos="3067">
          <p15:clr>
            <a:srgbClr val="A4A3A4"/>
          </p15:clr>
        </p15:guide>
        <p15:guide id="14" orient="horz" pos="1979">
          <p15:clr>
            <a:srgbClr val="A4A3A4"/>
          </p15:clr>
        </p15:guide>
        <p15:guide id="15" pos="2925">
          <p15:clr>
            <a:srgbClr val="A4A3A4"/>
          </p15:clr>
        </p15:guide>
        <p15:guide id="16" pos="2835">
          <p15:clr>
            <a:srgbClr val="A4A3A4"/>
          </p15:clr>
        </p15:guide>
        <p15:guide id="17" pos="2245">
          <p15:clr>
            <a:srgbClr val="A4A3A4"/>
          </p15:clr>
        </p15:guide>
        <p15:guide id="18" pos="2154">
          <p15:clr>
            <a:srgbClr val="A4A3A4"/>
          </p15:clr>
        </p15:guide>
        <p15:guide id="19" pos="1565">
          <p15:clr>
            <a:srgbClr val="A4A3A4"/>
          </p15:clr>
        </p15:guide>
        <p15:guide id="20" pos="1474">
          <p15:clr>
            <a:srgbClr val="A4A3A4"/>
          </p15:clr>
        </p15:guide>
        <p15:guide id="21" pos="884">
          <p15:clr>
            <a:srgbClr val="A4A3A4"/>
          </p15:clr>
        </p15:guide>
        <p15:guide id="22" pos="793">
          <p15:clr>
            <a:srgbClr val="A4A3A4"/>
          </p15:clr>
        </p15:guide>
        <p15:guide id="23" pos="204">
          <p15:clr>
            <a:srgbClr val="A4A3A4"/>
          </p15:clr>
        </p15:guide>
        <p15:guide id="24" pos="3515">
          <p15:clr>
            <a:srgbClr val="A4A3A4"/>
          </p15:clr>
        </p15:guide>
        <p15:guide id="25" pos="3606">
          <p15:clr>
            <a:srgbClr val="A4A3A4"/>
          </p15:clr>
        </p15:guide>
        <p15:guide id="26" pos="4195">
          <p15:clr>
            <a:srgbClr val="A4A3A4"/>
          </p15:clr>
        </p15:guide>
        <p15:guide id="27" pos="4286">
          <p15:clr>
            <a:srgbClr val="A4A3A4"/>
          </p15:clr>
        </p15:guide>
        <p15:guide id="28" pos="4876">
          <p15:clr>
            <a:srgbClr val="A4A3A4"/>
          </p15:clr>
        </p15:guide>
        <p15:guide id="29" pos="4967">
          <p15:clr>
            <a:srgbClr val="A4A3A4"/>
          </p15:clr>
        </p15:guide>
        <p15:guide id="30" pos="555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703"/>
  </p:normalViewPr>
  <p:slideViewPr>
    <p:cSldViewPr snapToGrid="0">
      <p:cViewPr varScale="1">
        <p:scale>
          <a:sx n="128" d="100"/>
          <a:sy n="128" d="100"/>
        </p:scale>
        <p:origin x="1352" y="168"/>
      </p:cViewPr>
      <p:guideLst>
        <p:guide orient="horz" pos="1253"/>
        <p:guide orient="horz" pos="3838"/>
        <p:guide orient="horz" pos="4201"/>
        <p:guide orient="horz" pos="3294"/>
        <p:guide orient="horz" pos="255"/>
        <p:guide orient="horz" pos="1026"/>
        <p:guide orient="horz" pos="3884"/>
        <p:guide orient="horz" pos="3385"/>
        <p:guide orient="horz" pos="2704"/>
        <p:guide orient="horz" pos="1207"/>
        <p:guide orient="horz" pos="1525"/>
        <p:guide orient="horz" pos="1480"/>
        <p:guide orient="horz" pos="3067"/>
        <p:guide orient="horz" pos="1979"/>
        <p:guide pos="2925"/>
        <p:guide pos="2835"/>
        <p:guide pos="2245"/>
        <p:guide pos="2154"/>
        <p:guide pos="1565"/>
        <p:guide pos="1474"/>
        <p:guide pos="884"/>
        <p:guide pos="793"/>
        <p:guide pos="204"/>
        <p:guide pos="3515"/>
        <p:guide pos="3606"/>
        <p:guide pos="4195"/>
        <p:guide pos="4286"/>
        <p:guide pos="4876"/>
        <p:guide pos="4967"/>
        <p:guide pos="55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‹Nr.›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e85f752237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e85f752237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g2e85f752237_0_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e96c34e4ce_2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e96c34e4ce_2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g2e96c34e4ce_2_2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e85f752237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e85f752237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g2e85f752237_0_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folie">
  <p:cSld name="Titelfoli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/>
          <p:nvPr/>
        </p:nvSpPr>
        <p:spPr>
          <a:xfrm>
            <a:off x="0" y="283"/>
            <a:ext cx="9143622" cy="685743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2"/>
          <p:cNvSpPr>
            <a:spLocks noGrp="1"/>
          </p:cNvSpPr>
          <p:nvPr>
            <p:ph type="pic" idx="2"/>
          </p:nvPr>
        </p:nvSpPr>
        <p:spPr>
          <a:xfrm>
            <a:off x="4643438" y="1989138"/>
            <a:ext cx="4500184" cy="3240087"/>
          </a:xfrm>
          <a:prstGeom prst="rect">
            <a:avLst/>
          </a:prstGeom>
          <a:noFill/>
          <a:ln>
            <a:noFill/>
          </a:ln>
        </p:spPr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323850" y="5373688"/>
            <a:ext cx="5256213" cy="792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 u="sng">
                <a:solidFill>
                  <a:schemeClr val="dk1"/>
                </a:solidFill>
              </a:defRPr>
            </a:lvl1pPr>
            <a:lvl2pPr lv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21" name="Google Shape;21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459123" y="0"/>
            <a:ext cx="3689604" cy="202311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323850" y="2492896"/>
            <a:ext cx="5256213" cy="2376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82800" anchor="b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1" u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folie Gross">
  <p:cSld name="Titelfolie Gros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/>
          <p:nvPr/>
        </p:nvSpPr>
        <p:spPr>
          <a:xfrm>
            <a:off x="0" y="283"/>
            <a:ext cx="9143622" cy="685743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1"/>
          </p:nvPr>
        </p:nvSpPr>
        <p:spPr>
          <a:xfrm>
            <a:off x="323850" y="5373688"/>
            <a:ext cx="5256213" cy="792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 u="sng">
                <a:solidFill>
                  <a:schemeClr val="dk1"/>
                </a:solidFill>
              </a:defRPr>
            </a:lvl1pPr>
            <a:lvl2pPr lv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459123" y="0"/>
            <a:ext cx="3689604" cy="202311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3"/>
          <p:cNvSpPr txBox="1">
            <a:spLocks noGrp="1"/>
          </p:cNvSpPr>
          <p:nvPr>
            <p:ph type="ctrTitle"/>
          </p:nvPr>
        </p:nvSpPr>
        <p:spPr>
          <a:xfrm>
            <a:off x="323850" y="2349500"/>
            <a:ext cx="6335713" cy="25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82800" anchor="b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1" u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und zwei Bilder">
  <p:cSld name="Titel und zwei Bil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323850" y="404664"/>
            <a:ext cx="6335713" cy="792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ftr" idx="11"/>
          </p:nvPr>
        </p:nvSpPr>
        <p:spPr>
          <a:xfrm>
            <a:off x="2484438" y="6453336"/>
            <a:ext cx="3095625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038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1403350" y="6453336"/>
            <a:ext cx="936626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>
            <a:spLocks noGrp="1"/>
          </p:cNvSpPr>
          <p:nvPr>
            <p:ph type="pic" idx="2"/>
          </p:nvPr>
        </p:nvSpPr>
        <p:spPr>
          <a:xfrm>
            <a:off x="323528" y="1989139"/>
            <a:ext cx="4177035" cy="2736006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323850" y="4869160"/>
            <a:ext cx="4176713" cy="1223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u="sng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−"/>
              <a:defRPr/>
            </a:lvl4pPr>
            <a:lvl5pPr marL="2286000" lvl="4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  <a:defRPr/>
            </a:lvl5pPr>
            <a:lvl6pPr marL="2743200" lvl="5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marL="3200400" lvl="6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marL="3657600" lvl="7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marL="4114800" lvl="8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>
            <a:spLocks noGrp="1"/>
          </p:cNvSpPr>
          <p:nvPr>
            <p:ph type="pic" idx="3"/>
          </p:nvPr>
        </p:nvSpPr>
        <p:spPr>
          <a:xfrm>
            <a:off x="4643437" y="1989139"/>
            <a:ext cx="4177035" cy="2736006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Google Shape;48;p6"/>
          <p:cNvSpPr txBox="1">
            <a:spLocks noGrp="1"/>
          </p:cNvSpPr>
          <p:nvPr>
            <p:ph type="body" idx="4"/>
          </p:nvPr>
        </p:nvSpPr>
        <p:spPr>
          <a:xfrm>
            <a:off x="4643759" y="4869160"/>
            <a:ext cx="4176713" cy="1223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u="sng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−"/>
              <a:defRPr/>
            </a:lvl4pPr>
            <a:lvl5pPr marL="2286000" lvl="4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  <a:defRPr/>
            </a:lvl5pPr>
            <a:lvl6pPr marL="2743200" lvl="5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marL="3200400" lvl="6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marL="3657600" lvl="7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marL="4114800" lvl="8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itat Gross">
  <p:cSld name="Zitat Gross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2484438" y="6453336"/>
            <a:ext cx="3095625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038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dt" idx="10"/>
          </p:nvPr>
        </p:nvSpPr>
        <p:spPr>
          <a:xfrm>
            <a:off x="1403350" y="6453336"/>
            <a:ext cx="936626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body" idx="1"/>
          </p:nvPr>
        </p:nvSpPr>
        <p:spPr>
          <a:xfrm>
            <a:off x="323850" y="404813"/>
            <a:ext cx="6335713" cy="5688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 u="none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20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Arial"/>
              <a:buNone/>
              <a:defRPr sz="2600" b="1">
                <a:solidFill>
                  <a:schemeClr val="accen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itat">
  <p:cSld name="Zita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>
            <a:spLocks noGrp="1"/>
          </p:cNvSpPr>
          <p:nvPr>
            <p:ph type="ftr" idx="11"/>
          </p:nvPr>
        </p:nvSpPr>
        <p:spPr>
          <a:xfrm>
            <a:off x="2484438" y="6453336"/>
            <a:ext cx="3095625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038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dt" idx="10"/>
          </p:nvPr>
        </p:nvSpPr>
        <p:spPr>
          <a:xfrm>
            <a:off x="1403350" y="6453336"/>
            <a:ext cx="936626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1"/>
          </p:nvPr>
        </p:nvSpPr>
        <p:spPr>
          <a:xfrm>
            <a:off x="323850" y="404813"/>
            <a:ext cx="6335713" cy="5688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 u="sng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1">
                <a:solidFill>
                  <a:schemeClr val="accen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r Titel">
  <p:cSld name="Nur Titel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323850" y="404664"/>
            <a:ext cx="6335713" cy="792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ftr" idx="11"/>
          </p:nvPr>
        </p:nvSpPr>
        <p:spPr>
          <a:xfrm>
            <a:off x="2484438" y="6453336"/>
            <a:ext cx="3095625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038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1403350" y="6453336"/>
            <a:ext cx="936626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und zwei Inhalte" type="twoObj">
  <p:cSld name="TWO_OBJECTS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>
            <a:spLocks noGrp="1"/>
          </p:cNvSpPr>
          <p:nvPr>
            <p:ph type="title"/>
          </p:nvPr>
        </p:nvSpPr>
        <p:spPr>
          <a:xfrm>
            <a:off x="323850" y="404664"/>
            <a:ext cx="6335713" cy="792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body" idx="1"/>
          </p:nvPr>
        </p:nvSpPr>
        <p:spPr>
          <a:xfrm>
            <a:off x="323849" y="1989138"/>
            <a:ext cx="4176713" cy="4103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−"/>
              <a:defRPr sz="1600"/>
            </a:lvl3pPr>
            <a:lvl4pPr marL="1828800" lvl="3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−"/>
              <a:defRPr sz="1600"/>
            </a:lvl4pPr>
            <a:lvl5pPr marL="2286000" lvl="4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  <a:defRPr sz="1600"/>
            </a:lvl5pPr>
            <a:lvl6pPr marL="2743200" lvl="5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marL="3200400" lvl="6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7pPr>
            <a:lvl8pPr marL="3657600" lvl="7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marL="4114800" lvl="8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body" idx="2"/>
          </p:nvPr>
        </p:nvSpPr>
        <p:spPr>
          <a:xfrm>
            <a:off x="4643438" y="1989138"/>
            <a:ext cx="4176712" cy="4103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−"/>
              <a:defRPr sz="1600"/>
            </a:lvl3pPr>
            <a:lvl4pPr marL="1828800" lvl="3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−"/>
              <a:defRPr sz="1600"/>
            </a:lvl4pPr>
            <a:lvl5pPr marL="2286000" lvl="4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  <a:defRPr sz="1600"/>
            </a:lvl5pPr>
            <a:lvl6pPr marL="2743200" lvl="5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marL="3200400" lvl="6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marL="3657600" lvl="7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marL="4114800" lvl="8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ftr" idx="11"/>
          </p:nvPr>
        </p:nvSpPr>
        <p:spPr>
          <a:xfrm>
            <a:off x="2484438" y="6453336"/>
            <a:ext cx="3095625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00" b="1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038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1403350" y="6453336"/>
            <a:ext cx="936626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00" b="1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Gross und zwei Inhalte">
  <p:cSld name="Titel Gross und zwei Inhalte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>
            <a:spLocks noGrp="1"/>
          </p:cNvSpPr>
          <p:nvPr>
            <p:ph type="title"/>
          </p:nvPr>
        </p:nvSpPr>
        <p:spPr>
          <a:xfrm>
            <a:off x="323850" y="404663"/>
            <a:ext cx="6335713" cy="1224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1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body" idx="1"/>
          </p:nvPr>
        </p:nvSpPr>
        <p:spPr>
          <a:xfrm>
            <a:off x="323849" y="1989138"/>
            <a:ext cx="4176713" cy="4103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−"/>
              <a:defRPr sz="1600"/>
            </a:lvl3pPr>
            <a:lvl4pPr marL="1828800" lvl="3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−"/>
              <a:defRPr sz="1600"/>
            </a:lvl4pPr>
            <a:lvl5pPr marL="2286000" lvl="4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  <a:defRPr sz="1600"/>
            </a:lvl5pPr>
            <a:lvl6pPr marL="2743200" lvl="5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marL="3200400" lvl="6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7pPr>
            <a:lvl8pPr marL="3657600" lvl="7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marL="4114800" lvl="8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body" idx="2"/>
          </p:nvPr>
        </p:nvSpPr>
        <p:spPr>
          <a:xfrm>
            <a:off x="4643438" y="1989138"/>
            <a:ext cx="4176712" cy="4103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−"/>
              <a:defRPr sz="1600"/>
            </a:lvl3pPr>
            <a:lvl4pPr marL="1828800" lvl="3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−"/>
              <a:defRPr sz="1600"/>
            </a:lvl4pPr>
            <a:lvl5pPr marL="2286000" lvl="4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  <a:defRPr sz="1600"/>
            </a:lvl5pPr>
            <a:lvl6pPr marL="2743200" lvl="5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marL="3200400" lvl="6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marL="3657600" lvl="7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marL="4114800" lvl="8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ftr" idx="11"/>
          </p:nvPr>
        </p:nvSpPr>
        <p:spPr>
          <a:xfrm>
            <a:off x="2484438" y="6453336"/>
            <a:ext cx="3095625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00" b="1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038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dt" idx="10"/>
          </p:nvPr>
        </p:nvSpPr>
        <p:spPr>
          <a:xfrm>
            <a:off x="1403350" y="6453336"/>
            <a:ext cx="936626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00" b="1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Gross und zwei Bilder">
  <p:cSld name="Titel Gross und zwei Bild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323850" y="404663"/>
            <a:ext cx="6335713" cy="1224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1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ftr" idx="11"/>
          </p:nvPr>
        </p:nvSpPr>
        <p:spPr>
          <a:xfrm>
            <a:off x="2484438" y="6453336"/>
            <a:ext cx="3095625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038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dt" idx="10"/>
          </p:nvPr>
        </p:nvSpPr>
        <p:spPr>
          <a:xfrm>
            <a:off x="1403350" y="6453336"/>
            <a:ext cx="936626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4"/>
          <p:cNvSpPr>
            <a:spLocks noGrp="1"/>
          </p:cNvSpPr>
          <p:nvPr>
            <p:ph type="pic" idx="2"/>
          </p:nvPr>
        </p:nvSpPr>
        <p:spPr>
          <a:xfrm>
            <a:off x="323528" y="1989139"/>
            <a:ext cx="4177035" cy="2736006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14"/>
          <p:cNvSpPr txBox="1">
            <a:spLocks noGrp="1"/>
          </p:cNvSpPr>
          <p:nvPr>
            <p:ph type="body" idx="1"/>
          </p:nvPr>
        </p:nvSpPr>
        <p:spPr>
          <a:xfrm>
            <a:off x="323850" y="4869160"/>
            <a:ext cx="4176713" cy="1223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u="sng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−"/>
              <a:defRPr/>
            </a:lvl4pPr>
            <a:lvl5pPr marL="2286000" lvl="4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  <a:defRPr/>
            </a:lvl5pPr>
            <a:lvl6pPr marL="2743200" lvl="5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marL="3200400" lvl="6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marL="3657600" lvl="7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marL="4114800" lvl="8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4"/>
          <p:cNvSpPr>
            <a:spLocks noGrp="1"/>
          </p:cNvSpPr>
          <p:nvPr>
            <p:ph type="pic" idx="3"/>
          </p:nvPr>
        </p:nvSpPr>
        <p:spPr>
          <a:xfrm>
            <a:off x="4643437" y="1989139"/>
            <a:ext cx="4177035" cy="2736006"/>
          </a:xfrm>
          <a:prstGeom prst="rect">
            <a:avLst/>
          </a:prstGeom>
          <a:noFill/>
          <a:ln>
            <a:noFill/>
          </a:ln>
        </p:spPr>
      </p:sp>
      <p:sp>
        <p:nvSpPr>
          <p:cNvPr id="97" name="Google Shape;97;p14"/>
          <p:cNvSpPr txBox="1">
            <a:spLocks noGrp="1"/>
          </p:cNvSpPr>
          <p:nvPr>
            <p:ph type="body" idx="4"/>
          </p:nvPr>
        </p:nvSpPr>
        <p:spPr>
          <a:xfrm>
            <a:off x="4643759" y="4869160"/>
            <a:ext cx="4176713" cy="1223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u="sng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−"/>
              <a:defRPr/>
            </a:lvl4pPr>
            <a:lvl5pPr marL="2286000" lvl="4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  <a:defRPr/>
            </a:lvl5pPr>
            <a:lvl6pPr marL="2743200" lvl="5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marL="3200400" lvl="6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marL="3657600" lvl="7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marL="4114800" lvl="8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r Titel Gross">
  <p:cSld name="Nur Titel Gross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>
            <a:spLocks noGrp="1"/>
          </p:cNvSpPr>
          <p:nvPr>
            <p:ph type="title"/>
          </p:nvPr>
        </p:nvSpPr>
        <p:spPr>
          <a:xfrm>
            <a:off x="323850" y="404663"/>
            <a:ext cx="6335713" cy="1224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1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5"/>
          <p:cNvSpPr txBox="1">
            <a:spLocks noGrp="1"/>
          </p:cNvSpPr>
          <p:nvPr>
            <p:ph type="ftr" idx="11"/>
          </p:nvPr>
        </p:nvSpPr>
        <p:spPr>
          <a:xfrm>
            <a:off x="2484438" y="6453336"/>
            <a:ext cx="3095625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5"/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038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102" name="Google Shape;102;p15"/>
          <p:cNvSpPr txBox="1">
            <a:spLocks noGrp="1"/>
          </p:cNvSpPr>
          <p:nvPr>
            <p:ph type="dt" idx="10"/>
          </p:nvPr>
        </p:nvSpPr>
        <p:spPr>
          <a:xfrm>
            <a:off x="1403350" y="6453336"/>
            <a:ext cx="936626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323850" y="404664"/>
            <a:ext cx="6335713" cy="792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323850" y="1988840"/>
            <a:ext cx="6335713" cy="4103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−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−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2" name="Google Shape;12;p1"/>
          <p:cNvCxnSpPr/>
          <p:nvPr/>
        </p:nvCxnSpPr>
        <p:spPr>
          <a:xfrm>
            <a:off x="323850" y="6408378"/>
            <a:ext cx="8496622" cy="0"/>
          </a:xfrm>
          <a:prstGeom prst="straightConnector1">
            <a:avLst/>
          </a:prstGeom>
          <a:noFill/>
          <a:ln w="12700" cap="flat" cmpd="sng">
            <a:solidFill>
              <a:srgbClr val="0098D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2484438" y="6453336"/>
            <a:ext cx="3095625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038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dt" idx="10"/>
          </p:nvPr>
        </p:nvSpPr>
        <p:spPr>
          <a:xfrm>
            <a:off x="1403350" y="6453336"/>
            <a:ext cx="936626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1"/>
          <p:cNvSpPr txBox="1"/>
          <p:nvPr/>
        </p:nvSpPr>
        <p:spPr>
          <a:xfrm>
            <a:off x="5724525" y="6453336"/>
            <a:ext cx="3095947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Universität Konstanz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4" r:id="rId4"/>
    <p:sldLayoutId id="2147483655" r:id="rId5"/>
    <p:sldLayoutId id="2147483656" r:id="rId6"/>
    <p:sldLayoutId id="2147483658" r:id="rId7"/>
    <p:sldLayoutId id="2147483659" r:id="rId8"/>
    <p:sldLayoutId id="2147483660" r:id="rId9"/>
    <p:sldLayoutId id="2147483661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9;p16">
            <a:extLst>
              <a:ext uri="{FF2B5EF4-FFF2-40B4-BE49-F238E27FC236}">
                <a16:creationId xmlns:a16="http://schemas.microsoft.com/office/drawing/2014/main" id="{9A3E191D-A782-E963-3507-B6624836F947}"/>
              </a:ext>
            </a:extLst>
          </p:cNvPr>
          <p:cNvSpPr/>
          <p:nvPr/>
        </p:nvSpPr>
        <p:spPr>
          <a:xfrm>
            <a:off x="289622" y="1995888"/>
            <a:ext cx="2284613" cy="56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noProof="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Replication:</a:t>
            </a:r>
          </a:p>
        </p:txBody>
      </p:sp>
      <p:sp>
        <p:nvSpPr>
          <p:cNvPr id="107" name="Google Shape;107;p16"/>
          <p:cNvSpPr/>
          <p:nvPr/>
        </p:nvSpPr>
        <p:spPr>
          <a:xfrm>
            <a:off x="289624" y="3680625"/>
            <a:ext cx="3715845" cy="56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noProof="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Election Campaigns</a:t>
            </a:r>
          </a:p>
        </p:txBody>
      </p:sp>
      <p:sp>
        <p:nvSpPr>
          <p:cNvPr id="108" name="Google Shape;108;p16"/>
          <p:cNvSpPr/>
          <p:nvPr/>
        </p:nvSpPr>
        <p:spPr>
          <a:xfrm>
            <a:off x="289625" y="3118825"/>
            <a:ext cx="3119498" cy="56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noProof="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During and After</a:t>
            </a:r>
          </a:p>
        </p:txBody>
      </p:sp>
      <p:sp>
        <p:nvSpPr>
          <p:cNvPr id="109" name="Google Shape;109;p16"/>
          <p:cNvSpPr/>
          <p:nvPr/>
        </p:nvSpPr>
        <p:spPr>
          <a:xfrm>
            <a:off x="289622" y="2557750"/>
            <a:ext cx="3944448" cy="56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noProof="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Party Communication</a:t>
            </a:r>
          </a:p>
        </p:txBody>
      </p:sp>
      <p:sp>
        <p:nvSpPr>
          <p:cNvPr id="110" name="Google Shape;110;p16"/>
          <p:cNvSpPr txBox="1">
            <a:spLocks noGrp="1"/>
          </p:cNvSpPr>
          <p:nvPr>
            <p:ph type="subTitle" idx="1"/>
          </p:nvPr>
        </p:nvSpPr>
        <p:spPr>
          <a:xfrm>
            <a:off x="406650" y="5546100"/>
            <a:ext cx="8330700" cy="7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noProof="0" dirty="0"/>
              <a:t>Max Weiland</a:t>
            </a:r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b="0" u="none" noProof="0" dirty="0"/>
              <a:t>Konstanz, 15.07.25</a:t>
            </a:r>
            <a:endParaRPr lang="en-US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>
            <a:spLocks noGrp="1"/>
          </p:cNvSpPr>
          <p:nvPr>
            <p:ph type="title"/>
          </p:nvPr>
        </p:nvSpPr>
        <p:spPr>
          <a:xfrm>
            <a:off x="323850" y="404825"/>
            <a:ext cx="8496300" cy="638784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noProof="0" dirty="0"/>
              <a:t>1. Research Question</a:t>
            </a:r>
          </a:p>
        </p:txBody>
      </p:sp>
      <p:sp>
        <p:nvSpPr>
          <p:cNvPr id="127" name="Google Shape;127;p18"/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100" cy="216000"/>
          </a:xfrm>
          <a:prstGeom prst="rect">
            <a:avLst/>
          </a:prstGeom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noProof="0" smtClean="0"/>
              <a:t>2</a:t>
            </a:fld>
            <a:endParaRPr lang="en-US" noProof="0" dirty="0"/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13F065A4-B0FB-6E0F-0FE0-DBDDB99E4AEA}"/>
              </a:ext>
            </a:extLst>
          </p:cNvPr>
          <p:cNvSpPr txBox="1">
            <a:spLocks/>
          </p:cNvSpPr>
          <p:nvPr/>
        </p:nvSpPr>
        <p:spPr>
          <a:xfrm>
            <a:off x="323850" y="2322517"/>
            <a:ext cx="7468428" cy="372731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28600"/>
            <a:r>
              <a:rPr lang="en-US" b="1" noProof="0" dirty="0"/>
              <a:t>Previous Research: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noProof="0" dirty="0"/>
              <a:t>Politicians strategically apply emotive language during election campaigns</a:t>
            </a:r>
            <a:br>
              <a:rPr lang="en-US" noProof="0" dirty="0"/>
            </a:br>
            <a:r>
              <a:rPr lang="en-US" noProof="0" dirty="0"/>
              <a:t>(Kosmidis et al. 2019)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dirty="0"/>
              <a:t>Negativity during campaigns linked to increased affective polarization (Marchal 2022)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noProof="0" dirty="0"/>
              <a:t>Poor economic performance makes e</a:t>
            </a:r>
            <a:r>
              <a:rPr lang="en-US" dirty="0" err="1"/>
              <a:t>veryone</a:t>
            </a:r>
            <a:r>
              <a:rPr lang="en-US" dirty="0"/>
              <a:t> speak more negatively (Crabtree 2020)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228600"/>
            <a:r>
              <a:rPr lang="en-US" b="1" noProof="0" dirty="0"/>
              <a:t>Appl</a:t>
            </a:r>
            <a:r>
              <a:rPr lang="en-US" b="1" dirty="0" err="1"/>
              <a:t>ication</a:t>
            </a:r>
            <a:r>
              <a:rPr lang="en-US" b="1" dirty="0"/>
              <a:t>: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noProof="0" dirty="0"/>
              <a:t>How did German parties’ sentiment change during the 2025 Bundestag campaign?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dirty="0"/>
              <a:t>Analyze individual politicians’ communication on social media (Bluesky posts)</a:t>
            </a:r>
            <a:endParaRPr lang="en-US" noProof="0" dirty="0"/>
          </a:p>
          <a:p>
            <a:pPr marL="514350" indent="-285750">
              <a:buFont typeface="Arial" panose="020B0604020202020204" pitchFamily="34" charset="0"/>
              <a:buChar char="•"/>
            </a:pPr>
            <a:endParaRPr lang="en-US" noProof="0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5C0EB813-0567-3D34-0974-F82EF1FA0093}"/>
              </a:ext>
            </a:extLst>
          </p:cNvPr>
          <p:cNvSpPr txBox="1"/>
          <p:nvPr/>
        </p:nvSpPr>
        <p:spPr>
          <a:xfrm>
            <a:off x="329648" y="1157586"/>
            <a:ext cx="65581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noProof="0" dirty="0">
                <a:solidFill>
                  <a:schemeClr val="accent2"/>
                </a:solidFill>
              </a:rPr>
              <a:t>How does party communication change during election campaigns?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100" cy="216000"/>
          </a:xfrm>
          <a:prstGeom prst="rect">
            <a:avLst/>
          </a:prstGeom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noProof="0" smtClean="0"/>
              <a:t>3</a:t>
            </a:fld>
            <a:endParaRPr lang="en-US" noProof="0" dirty="0"/>
          </a:p>
        </p:txBody>
      </p:sp>
      <p:sp>
        <p:nvSpPr>
          <p:cNvPr id="137" name="Google Shape;137;p19"/>
          <p:cNvSpPr txBox="1">
            <a:spLocks noGrp="1"/>
          </p:cNvSpPr>
          <p:nvPr>
            <p:ph type="title"/>
          </p:nvPr>
        </p:nvSpPr>
        <p:spPr>
          <a:xfrm>
            <a:off x="323850" y="404669"/>
            <a:ext cx="6335700" cy="62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u="none" noProof="0" dirty="0"/>
              <a:t>2. The Original Paper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noProof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/>
          </a:p>
        </p:txBody>
      </p:sp>
      <p:sp>
        <p:nvSpPr>
          <p:cNvPr id="2" name="Textplatzhalter 2">
            <a:extLst>
              <a:ext uri="{FF2B5EF4-FFF2-40B4-BE49-F238E27FC236}">
                <a16:creationId xmlns:a16="http://schemas.microsoft.com/office/drawing/2014/main" id="{A782003F-B563-0F25-3691-767ED74C59C7}"/>
              </a:ext>
            </a:extLst>
          </p:cNvPr>
          <p:cNvSpPr txBox="1">
            <a:spLocks/>
          </p:cNvSpPr>
          <p:nvPr/>
        </p:nvSpPr>
        <p:spPr>
          <a:xfrm>
            <a:off x="323849" y="1202636"/>
            <a:ext cx="8164168" cy="489019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28600"/>
            <a:r>
              <a:rPr lang="en-US" sz="1600" b="1" dirty="0">
                <a:solidFill>
                  <a:schemeClr val="accent2"/>
                </a:solidFill>
              </a:rPr>
              <a:t>Modulation of Democracy: Partisan Communication During and After Election Campaigns </a:t>
            </a:r>
            <a:r>
              <a:rPr lang="en-US" sz="1600" dirty="0"/>
              <a:t>(Silva et al. 2024)</a:t>
            </a:r>
          </a:p>
          <a:p>
            <a:pPr marL="228600"/>
            <a:endParaRPr lang="en-US" noProof="0" dirty="0"/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noProof="0" dirty="0"/>
              <a:t>Analyze all tweets by e</a:t>
            </a:r>
            <a:r>
              <a:rPr lang="en-US" dirty="0"/>
              <a:t>very member of a national parliament in the EU 27 between</a:t>
            </a:r>
            <a:br>
              <a:rPr lang="en-US" dirty="0"/>
            </a:br>
            <a:r>
              <a:rPr lang="en-US" dirty="0"/>
              <a:t>February 2018 and February 2020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noProof="0" dirty="0"/>
              <a:t>Apply a </a:t>
            </a:r>
            <a:r>
              <a:rPr lang="en-US" dirty="0"/>
              <a:t>dictionary-sentiment analysis</a:t>
            </a:r>
          </a:p>
          <a:p>
            <a:pPr marL="228600"/>
            <a:endParaRPr lang="en-US" dirty="0"/>
          </a:p>
          <a:p>
            <a:pPr marL="228600"/>
            <a:r>
              <a:rPr lang="en-US" b="1" dirty="0"/>
              <a:t>Findings: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dirty="0"/>
              <a:t>Generally, government parties communicate more positively than the opposition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noProof="0" dirty="0"/>
              <a:t>That gap narrows during </a:t>
            </a:r>
            <a:r>
              <a:rPr lang="en-US" dirty="0"/>
              <a:t>election campaigns. This effect holds even for Euroskeptic</a:t>
            </a:r>
            <a:br>
              <a:rPr lang="en-US" dirty="0"/>
            </a:br>
            <a:r>
              <a:rPr lang="en-US" dirty="0"/>
              <a:t>and extreme parties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noProof="0" dirty="0"/>
              <a:t>Parties trailing in the polls communicate more negatively</a:t>
            </a:r>
            <a:br>
              <a:rPr lang="en-US" noProof="0" dirty="0"/>
            </a:br>
            <a:br>
              <a:rPr lang="en-US" noProof="0" dirty="0"/>
            </a:br>
            <a:endParaRPr lang="en-US" noProof="0" dirty="0"/>
          </a:p>
        </p:txBody>
      </p:sp>
      <p:pic>
        <p:nvPicPr>
          <p:cNvPr id="4" name="Grafik 3" descr="Ein Bild, das Text, Reihe, Zahl, Quittung enthält.&#10;&#10;KI-generierte Inhalte können fehlerhaft sein.">
            <a:extLst>
              <a:ext uri="{FF2B5EF4-FFF2-40B4-BE49-F238E27FC236}">
                <a16:creationId xmlns:a16="http://schemas.microsoft.com/office/drawing/2014/main" id="{D7D1999D-B783-12CB-D2AE-BE9DD51EBF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8819" y="3946659"/>
            <a:ext cx="4383113" cy="2326421"/>
          </a:xfrm>
          <a:prstGeom prst="rect">
            <a:avLst/>
          </a:prstGeom>
        </p:spPr>
      </p:pic>
      <p:pic>
        <p:nvPicPr>
          <p:cNvPr id="6" name="Grafik 5" descr="Ein Bild, das Diagramm enthält.&#10;&#10;KI-generierte Inhalte können fehlerhaft sein.">
            <a:extLst>
              <a:ext uri="{FF2B5EF4-FFF2-40B4-BE49-F238E27FC236}">
                <a16:creationId xmlns:a16="http://schemas.microsoft.com/office/drawing/2014/main" id="{60BD5C8B-9F5B-DF89-5C71-0CA6195398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279" y="3976685"/>
            <a:ext cx="4071540" cy="217043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52C93B-5C9E-0D90-D776-EAB305A51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404663"/>
            <a:ext cx="6335713" cy="648885"/>
          </a:xfrm>
        </p:spPr>
        <p:txBody>
          <a:bodyPr/>
          <a:lstStyle/>
          <a:p>
            <a:r>
              <a:rPr lang="en-US" u="none" noProof="0" dirty="0"/>
              <a:t>3. Replication</a:t>
            </a:r>
            <a:endParaRPr lang="en-US" noProof="0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2BD4D24-6790-873C-C4AE-25ECE95A37C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4</a:t>
            </a:fld>
            <a:endParaRPr lang="en-US" noProof="0" dirty="0"/>
          </a:p>
        </p:txBody>
      </p:sp>
      <p:sp>
        <p:nvSpPr>
          <p:cNvPr id="7" name="Textplatzhalter 2">
            <a:extLst>
              <a:ext uri="{FF2B5EF4-FFF2-40B4-BE49-F238E27FC236}">
                <a16:creationId xmlns:a16="http://schemas.microsoft.com/office/drawing/2014/main" id="{BEAB5B70-A4BF-A1CA-2408-33E618A59104}"/>
              </a:ext>
            </a:extLst>
          </p:cNvPr>
          <p:cNvSpPr txBox="1">
            <a:spLocks/>
          </p:cNvSpPr>
          <p:nvPr/>
        </p:nvSpPr>
        <p:spPr>
          <a:xfrm>
            <a:off x="323850" y="1378300"/>
            <a:ext cx="7468428" cy="372731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noProof="0" dirty="0"/>
              <a:t>Test if the authors’ findings can be applied to the 2025 German Bundestag campaign</a:t>
            </a:r>
          </a:p>
          <a:p>
            <a:pPr marL="228600"/>
            <a:endParaRPr lang="en-US" dirty="0"/>
          </a:p>
          <a:p>
            <a:pPr marL="228600"/>
            <a:r>
              <a:rPr lang="en-US" b="1" dirty="0"/>
              <a:t>Hypotheses:</a:t>
            </a:r>
            <a:br>
              <a:rPr lang="en-US" dirty="0"/>
            </a:br>
            <a:r>
              <a:rPr lang="en-US" i="1" dirty="0"/>
              <a:t>H1: Government parties communicate more positively than opposition parties.</a:t>
            </a:r>
            <a:br>
              <a:rPr lang="en-US" i="1" dirty="0"/>
            </a:br>
            <a:r>
              <a:rPr lang="en-US" i="1" dirty="0"/>
              <a:t>H2: Opposition parties are more positive during campaign than non-campaign times.</a:t>
            </a:r>
            <a:br>
              <a:rPr lang="en-US" i="1" dirty="0"/>
            </a:br>
            <a:r>
              <a:rPr lang="en-US" i="1" dirty="0"/>
              <a:t>H3: Governing parties are more negative during campaign than non-campaign times.</a:t>
            </a:r>
          </a:p>
          <a:p>
            <a:pPr marL="228600"/>
            <a:endParaRPr lang="en-US" i="1" dirty="0"/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dirty="0"/>
              <a:t>Collected 17,173 posts of German MPs having a Bluesky account from June 2024 until June 2025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dirty="0"/>
              <a:t>Remove period of caretaker government directly after election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dirty="0"/>
              <a:t>Apply a BERT-based sentiment classifier to classify MPs sentiment </a:t>
            </a:r>
            <a:br>
              <a:rPr lang="en-US" dirty="0"/>
            </a:br>
            <a:r>
              <a:rPr lang="en-US" dirty="0"/>
              <a:t>(in one-week intervals)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dirty="0"/>
              <a:t>Run a multilevel model grouped at politician and party level</a:t>
            </a:r>
            <a:br>
              <a:rPr lang="en-US" i="1" dirty="0"/>
            </a:br>
            <a:endParaRPr lang="en-US" i="1" noProof="0" dirty="0"/>
          </a:p>
          <a:p>
            <a:pPr marL="514350" indent="-285750">
              <a:buFont typeface="Arial" panose="020B0604020202020204" pitchFamily="34" charset="0"/>
              <a:buChar char="•"/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35165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2"/>
          <p:cNvSpPr txBox="1">
            <a:spLocks noGrp="1"/>
          </p:cNvSpPr>
          <p:nvPr>
            <p:ph type="title"/>
          </p:nvPr>
        </p:nvSpPr>
        <p:spPr>
          <a:xfrm>
            <a:off x="323849" y="404663"/>
            <a:ext cx="7865994" cy="122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u="none" noProof="0" dirty="0"/>
              <a:t>4. Limitations and Open Questions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/>
          </a:p>
        </p:txBody>
      </p:sp>
      <p:sp>
        <p:nvSpPr>
          <p:cNvPr id="198" name="Google Shape;198;p22"/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100" cy="216000"/>
          </a:xfrm>
          <a:prstGeom prst="rect">
            <a:avLst/>
          </a:prstGeom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noProof="0" smtClean="0"/>
              <a:t>5</a:t>
            </a:fld>
            <a:endParaRPr lang="en-US" noProof="0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40861406-7A10-8AC5-FE23-9072E616C7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469" y="3429000"/>
            <a:ext cx="5705061" cy="2425061"/>
          </a:xfrm>
          <a:prstGeom prst="rect">
            <a:avLst/>
          </a:prstGeom>
        </p:spPr>
      </p:pic>
      <p:sp>
        <p:nvSpPr>
          <p:cNvPr id="4" name="Textplatzhalter 2">
            <a:extLst>
              <a:ext uri="{FF2B5EF4-FFF2-40B4-BE49-F238E27FC236}">
                <a16:creationId xmlns:a16="http://schemas.microsoft.com/office/drawing/2014/main" id="{51FD0D4E-CF51-097C-4E7C-C1915FBB5630}"/>
              </a:ext>
            </a:extLst>
          </p:cNvPr>
          <p:cNvSpPr txBox="1">
            <a:spLocks/>
          </p:cNvSpPr>
          <p:nvPr/>
        </p:nvSpPr>
        <p:spPr>
          <a:xfrm>
            <a:off x="323849" y="1378300"/>
            <a:ext cx="7647333" cy="226936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dirty="0"/>
              <a:t>Proportion of Bluesky accounts within a party is very unequally distributed across parties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dirty="0"/>
              <a:t>What single politician posts might not be representative of party’s main line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dirty="0"/>
              <a:t>Bundestag campaign did not start as planned, but because of dissolution of the parliament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dirty="0"/>
              <a:t>Focus better on single parties for which I have a reasonable amount of data?</a:t>
            </a:r>
          </a:p>
          <a:p>
            <a:pPr marL="228600"/>
            <a:br>
              <a:rPr lang="en-US" i="1" dirty="0"/>
            </a:br>
            <a:endParaRPr lang="en-US" i="1" noProof="0" dirty="0"/>
          </a:p>
          <a:p>
            <a:pPr marL="514350" indent="-285750">
              <a:buFont typeface="Arial" panose="020B0604020202020204" pitchFamily="34" charset="0"/>
              <a:buChar char="•"/>
            </a:pPr>
            <a:endParaRPr lang="en-US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CD57A1-8FDD-AC02-C426-E16670965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none" noProof="0" dirty="0"/>
              <a:t>References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4D13FB3-6DAA-C741-FFA4-FE514730AB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6</a:t>
            </a:fld>
            <a:endParaRPr lang="en-US" noProof="0" dirty="0"/>
          </a:p>
        </p:txBody>
      </p:sp>
      <p:sp>
        <p:nvSpPr>
          <p:cNvPr id="4" name="Textplatzhalter 2">
            <a:extLst>
              <a:ext uri="{FF2B5EF4-FFF2-40B4-BE49-F238E27FC236}">
                <a16:creationId xmlns:a16="http://schemas.microsoft.com/office/drawing/2014/main" id="{FF155920-C0A8-155B-E94E-5E8BB78E5F57}"/>
              </a:ext>
            </a:extLst>
          </p:cNvPr>
          <p:cNvSpPr txBox="1">
            <a:spLocks/>
          </p:cNvSpPr>
          <p:nvPr/>
        </p:nvSpPr>
        <p:spPr>
          <a:xfrm>
            <a:off x="323850" y="1093305"/>
            <a:ext cx="6335713" cy="4956524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28600"/>
            <a:endParaRPr lang="en-US" noProof="0" dirty="0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BE982AF7-EF9D-6E29-7B4F-8D0EE4DB3EF9}"/>
              </a:ext>
            </a:extLst>
          </p:cNvPr>
          <p:cNvSpPr txBox="1">
            <a:spLocks/>
          </p:cNvSpPr>
          <p:nvPr/>
        </p:nvSpPr>
        <p:spPr>
          <a:xfrm>
            <a:off x="323850" y="1093304"/>
            <a:ext cx="8496300" cy="4956524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28600"/>
            <a:r>
              <a:rPr lang="de-DE" dirty="0"/>
              <a:t>Crabtree, C., Golder, M., Gschwend, T., &amp; </a:t>
            </a:r>
            <a:r>
              <a:rPr lang="de-DE" dirty="0" err="1"/>
              <a:t>Indriđason</a:t>
            </a:r>
            <a:r>
              <a:rPr lang="de-DE" dirty="0"/>
              <a:t>, I. H. (2020).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not </a:t>
            </a:r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say</a:t>
            </a:r>
            <a:r>
              <a:rPr lang="de-DE" dirty="0"/>
              <a:t>,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also </a:t>
            </a:r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say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: The </a:t>
            </a:r>
            <a:r>
              <a:rPr lang="de-DE" dirty="0" err="1"/>
              <a:t>strategic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campaign</a:t>
            </a:r>
            <a:r>
              <a:rPr lang="de-DE" dirty="0"/>
              <a:t> </a:t>
            </a:r>
            <a:r>
              <a:rPr lang="de-DE" dirty="0" err="1"/>
              <a:t>sentiment</a:t>
            </a:r>
            <a:r>
              <a:rPr lang="de-DE" dirty="0"/>
              <a:t>. </a:t>
            </a:r>
            <a:r>
              <a:rPr lang="de-DE" i="1" dirty="0"/>
              <a:t>The Journal </a:t>
            </a:r>
            <a:r>
              <a:rPr lang="de-DE" i="1" dirty="0" err="1"/>
              <a:t>of</a:t>
            </a:r>
            <a:r>
              <a:rPr lang="de-DE" i="1" dirty="0"/>
              <a:t> Politics</a:t>
            </a:r>
            <a:r>
              <a:rPr lang="de-DE" dirty="0"/>
              <a:t>, </a:t>
            </a:r>
            <a:r>
              <a:rPr lang="de-DE" i="1" dirty="0"/>
              <a:t>82</a:t>
            </a:r>
            <a:r>
              <a:rPr lang="de-DE" dirty="0"/>
              <a:t>(3), 1044-1060.</a:t>
            </a:r>
            <a:br>
              <a:rPr lang="de-DE" dirty="0"/>
            </a:br>
            <a:br>
              <a:rPr lang="de-DE" dirty="0"/>
            </a:br>
            <a:r>
              <a:rPr lang="de-DE" dirty="0"/>
              <a:t>Marchal, N. (2022). “Be nice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leave</a:t>
            </a:r>
            <a:r>
              <a:rPr lang="de-DE" dirty="0"/>
              <a:t> </a:t>
            </a:r>
            <a:r>
              <a:rPr lang="de-DE" dirty="0" err="1"/>
              <a:t>me</a:t>
            </a:r>
            <a:r>
              <a:rPr lang="de-DE" dirty="0"/>
              <a:t> </a:t>
            </a:r>
            <a:r>
              <a:rPr lang="de-DE" dirty="0" err="1"/>
              <a:t>alone</a:t>
            </a:r>
            <a:r>
              <a:rPr lang="de-DE" dirty="0"/>
              <a:t>”: An </a:t>
            </a:r>
            <a:r>
              <a:rPr lang="de-DE" dirty="0" err="1"/>
              <a:t>intergroup</a:t>
            </a:r>
            <a:r>
              <a:rPr lang="de-DE" dirty="0"/>
              <a:t> </a:t>
            </a:r>
            <a:r>
              <a:rPr lang="de-DE" dirty="0" err="1"/>
              <a:t>perspective</a:t>
            </a:r>
            <a:r>
              <a:rPr lang="de-DE" dirty="0"/>
              <a:t> on </a:t>
            </a:r>
            <a:r>
              <a:rPr lang="de-DE" dirty="0" err="1"/>
              <a:t>affective</a:t>
            </a:r>
            <a:r>
              <a:rPr lang="de-DE" dirty="0"/>
              <a:t> </a:t>
            </a:r>
            <a:r>
              <a:rPr lang="de-DE" dirty="0" err="1"/>
              <a:t>polarization</a:t>
            </a:r>
            <a:r>
              <a:rPr lang="de-DE" dirty="0"/>
              <a:t> in online </a:t>
            </a:r>
            <a:r>
              <a:rPr lang="de-DE" dirty="0" err="1"/>
              <a:t>political</a:t>
            </a:r>
            <a:r>
              <a:rPr lang="de-DE" dirty="0"/>
              <a:t> </a:t>
            </a:r>
            <a:r>
              <a:rPr lang="de-DE" dirty="0" err="1"/>
              <a:t>discussions</a:t>
            </a:r>
            <a:r>
              <a:rPr lang="de-DE" dirty="0"/>
              <a:t>. </a:t>
            </a:r>
            <a:r>
              <a:rPr lang="de-DE" i="1" dirty="0"/>
              <a:t>Communication Research</a:t>
            </a:r>
            <a:r>
              <a:rPr lang="de-DE" dirty="0"/>
              <a:t>, </a:t>
            </a:r>
            <a:r>
              <a:rPr lang="de-DE" i="1" dirty="0"/>
              <a:t>49</a:t>
            </a:r>
            <a:r>
              <a:rPr lang="de-DE" dirty="0"/>
              <a:t>(3), 376-398.</a:t>
            </a:r>
            <a:br>
              <a:rPr lang="de-DE" dirty="0"/>
            </a:br>
            <a:br>
              <a:rPr lang="de-DE" dirty="0"/>
            </a:br>
            <a:r>
              <a:rPr lang="de-DE" dirty="0" err="1"/>
              <a:t>Kosmidis</a:t>
            </a:r>
            <a:r>
              <a:rPr lang="de-DE" dirty="0"/>
              <a:t>, S., </a:t>
            </a:r>
            <a:r>
              <a:rPr lang="de-DE" dirty="0" err="1"/>
              <a:t>Hobolt</a:t>
            </a:r>
            <a:r>
              <a:rPr lang="de-DE" dirty="0"/>
              <a:t>, S. B., Molloy, E., &amp; Whitefield, S. (2019). Party </a:t>
            </a:r>
            <a:r>
              <a:rPr lang="de-DE" dirty="0" err="1"/>
              <a:t>competition</a:t>
            </a:r>
            <a:r>
              <a:rPr lang="de-DE" dirty="0"/>
              <a:t> and emotive </a:t>
            </a:r>
            <a:r>
              <a:rPr lang="de-DE" dirty="0" err="1"/>
              <a:t>rhetoric</a:t>
            </a:r>
            <a:r>
              <a:rPr lang="de-DE" dirty="0"/>
              <a:t>. </a:t>
            </a:r>
            <a:r>
              <a:rPr lang="de-DE" i="1" dirty="0" err="1"/>
              <a:t>Comparative</a:t>
            </a:r>
            <a:r>
              <a:rPr lang="de-DE" i="1" dirty="0"/>
              <a:t> Political Studies</a:t>
            </a:r>
            <a:r>
              <a:rPr lang="de-DE" dirty="0"/>
              <a:t>, </a:t>
            </a:r>
            <a:r>
              <a:rPr lang="de-DE" i="1" dirty="0"/>
              <a:t>52</a:t>
            </a:r>
            <a:r>
              <a:rPr lang="de-DE" dirty="0"/>
              <a:t>(6), 811-837.</a:t>
            </a:r>
          </a:p>
          <a:p>
            <a:pPr marL="228600"/>
            <a:endParaRPr lang="de-DE" dirty="0"/>
          </a:p>
          <a:p>
            <a:pPr marL="228600"/>
            <a:r>
              <a:rPr lang="de-DE" dirty="0"/>
              <a:t>Silva, B. C., Schürmann, L., &amp; Proksch, S. O. (2024). Modulation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democracy</a:t>
            </a:r>
            <a:r>
              <a:rPr lang="de-DE" dirty="0"/>
              <a:t>: Partisan </a:t>
            </a:r>
            <a:r>
              <a:rPr lang="de-DE" dirty="0" err="1"/>
              <a:t>communication</a:t>
            </a:r>
            <a:r>
              <a:rPr lang="de-DE" dirty="0"/>
              <a:t> </a:t>
            </a:r>
            <a:r>
              <a:rPr lang="de-DE" dirty="0" err="1"/>
              <a:t>during</a:t>
            </a:r>
            <a:r>
              <a:rPr lang="de-DE" dirty="0"/>
              <a:t> and after </a:t>
            </a:r>
            <a:r>
              <a:rPr lang="de-DE" dirty="0" err="1"/>
              <a:t>election</a:t>
            </a:r>
            <a:r>
              <a:rPr lang="de-DE" dirty="0"/>
              <a:t> </a:t>
            </a:r>
            <a:r>
              <a:rPr lang="de-DE" dirty="0" err="1"/>
              <a:t>campaigns</a:t>
            </a:r>
            <a:r>
              <a:rPr lang="de-DE" dirty="0"/>
              <a:t>. </a:t>
            </a:r>
            <a:r>
              <a:rPr lang="de-DE" i="1" dirty="0"/>
              <a:t>British Journal </a:t>
            </a:r>
            <a:r>
              <a:rPr lang="de-DE" i="1" dirty="0" err="1"/>
              <a:t>of</a:t>
            </a:r>
            <a:r>
              <a:rPr lang="de-DE" i="1" dirty="0"/>
              <a:t> Political Science</a:t>
            </a:r>
            <a:r>
              <a:rPr lang="de-DE" dirty="0"/>
              <a:t>, </a:t>
            </a:r>
            <a:r>
              <a:rPr lang="de-DE" i="1" dirty="0"/>
              <a:t>54</a:t>
            </a:r>
            <a:r>
              <a:rPr lang="de-DE" dirty="0"/>
              <a:t>(2), 339-354.</a:t>
            </a:r>
            <a:br>
              <a:rPr lang="de-DE" dirty="0"/>
            </a:b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47335660"/>
      </p:ext>
    </p:extLst>
  </p:cSld>
  <p:clrMapOvr>
    <a:masterClrMapping/>
  </p:clrMapOvr>
</p:sld>
</file>

<file path=ppt/theme/theme1.xml><?xml version="1.0" encoding="utf-8"?>
<a:theme xmlns:a="http://schemas.openxmlformats.org/drawingml/2006/main" name="Universtiät Konstanz Design">
  <a:themeElements>
    <a:clrScheme name="UNIK Farben PowerPoint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009AD1"/>
      </a:accent1>
      <a:accent2>
        <a:srgbClr val="59B6DC"/>
      </a:accent2>
      <a:accent3>
        <a:srgbClr val="A0D3E6"/>
      </a:accent3>
      <a:accent4>
        <a:srgbClr val="C8E5EF"/>
      </a:accent4>
      <a:accent5>
        <a:srgbClr val="B2B2B2"/>
      </a:accent5>
      <a:accent6>
        <a:srgbClr val="808080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535</Words>
  <Application>Microsoft Macintosh PowerPoint</Application>
  <PresentationFormat>Bildschirmpräsentation (4:3)</PresentationFormat>
  <Paragraphs>53</Paragraphs>
  <Slides>6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9" baseType="lpstr">
      <vt:lpstr>Calibri</vt:lpstr>
      <vt:lpstr>Arial</vt:lpstr>
      <vt:lpstr>Universtiät Konstanz Design</vt:lpstr>
      <vt:lpstr>PowerPoint-Präsentation</vt:lpstr>
      <vt:lpstr>1. Research Question</vt:lpstr>
      <vt:lpstr>2. The Original Paper  </vt:lpstr>
      <vt:lpstr>3. Replication</vt:lpstr>
      <vt:lpstr>4. Limitations and Open Questions 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Maximilian Weiland</cp:lastModifiedBy>
  <cp:revision>1</cp:revision>
  <dcterms:modified xsi:type="dcterms:W3CDTF">2025-07-15T18:58:02Z</dcterms:modified>
</cp:coreProperties>
</file>